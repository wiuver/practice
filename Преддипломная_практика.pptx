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81" r:id="rId3"/>
    <p:sldId id="443" r:id="rId4"/>
    <p:sldId id="444" r:id="rId5"/>
    <p:sldId id="445" r:id="rId6"/>
    <p:sldId id="446" r:id="rId7"/>
    <p:sldId id="447" r:id="rId8"/>
    <p:sldId id="282" r:id="rId9"/>
    <p:sldId id="448" r:id="rId10"/>
    <p:sldId id="449" r:id="rId11"/>
    <p:sldId id="450" r:id="rId12"/>
    <p:sldId id="451" r:id="rId13"/>
    <p:sldId id="452" r:id="rId14"/>
    <p:sldId id="453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  <a:srgbClr val="B3B2CB"/>
    <a:srgbClr val="6F6CA8"/>
    <a:srgbClr val="C3F0F8"/>
    <a:srgbClr val="72DBEF"/>
    <a:srgbClr val="E2EEC4"/>
    <a:srgbClr val="BCD675"/>
    <a:srgbClr val="D1BED9"/>
    <a:srgbClr val="9366A6"/>
    <a:srgbClr val="7CD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4"/>
    <p:restoredTop sz="94668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99640-FDFF-554B-8155-2A4ABB0BB1C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55478-82A6-BE44-8EFA-5CC00A452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09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491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3C72-B58B-3A05-38EC-811DBCB4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A656AD-794A-F799-0349-9B66493E4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A7C46F1-8BDB-C171-6A11-937B08346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E5FAED-4AF6-C1AD-D45B-EBAE864AA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978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A80B-001E-387B-F17B-9618E75B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343CD26-9136-FFE5-FC08-32053CD54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831CFD-619E-231C-FCD1-EC3545CC8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48F1D1-0D85-DA48-F2D7-E0C9E40F7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819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A5D9-1A6E-F885-FD6A-F21DBF37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702555B-1F5F-B8CF-E244-024619D84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26F0F8-C7FF-4BFA-DED8-AFFD8ABBD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D9C727-5B4A-A200-7D75-2B34EEB67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634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3C33-ECD9-1EE2-F719-56FBC4C2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A28F6E7-6853-9898-B1FD-189C51F5D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4C09E5-2AF7-B048-6D05-869B7B6E6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5D9258-76D0-8E2D-E44F-4DAA90313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591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5A50-EC46-CA12-DEFC-DDDB9F75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7AEDA4-F237-E452-0177-DF7EB943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FF2D60D-833B-1BFD-5F5E-418DE280D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D946BD-4564-97EF-1EDB-7C0B515B1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723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534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1C37-6EDE-0D87-5476-AC016E45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4838A6C-E161-C586-C87C-5FBA914A7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F67F14F-F8B3-297D-7CDA-25C0295A0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28EFBD-B235-BA1E-512D-E0DC4AA5E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710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DB609-7044-6E74-9072-4325B798A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560F27-D1F0-9A5B-A1B7-1F972D222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FA1A2F-1E96-C148-A273-A8D2E23AB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26D692-7720-3A4D-8990-A9C059E96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523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72C1-DAB3-2B49-FEF7-3EFD9909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2211E8-F980-3C14-7083-0BBDF9A4E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7DDC05-207A-A760-CDEC-B0D86464E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888FFB-9DB4-DA32-40B0-C3A4B068C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267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AD28-E043-4323-EF41-D999C3A9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7A8376-7467-6C6F-6103-FE3BA570B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F56D217-8818-08E3-24C0-8FA4BA445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433E38-5AED-8646-C719-9DB182B9D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027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D29A4-88C4-E179-E2E7-AABA67C34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561BAE-9331-9F6D-1962-4B8625999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99E0558-65B5-8E39-AD10-BA2E35CE1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5735BF-65F7-E8CC-8FE1-704BD2B2A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652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7D45-3EA2-29D6-5306-7AE2EB05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555B1B7-3F90-B235-F111-82C68A6AB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4C3A4F8-34D9-56F3-9A06-A94C2545E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EA007C-37F9-CA60-743B-F5ABED2EA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496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0707D-31DF-4198-B226-3E86B722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62504C-6F4D-40E7-8C48-673B65E27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3BBD7-AAB6-4B8E-A07C-AA3217EE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78760-7C9F-4EAD-97A8-37EDECB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044B74-2CE6-4717-BE07-A7E8F51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D19CE-6856-4233-B020-94CF3DF5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32382-DAD4-41F8-B3C7-B0214FDC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FBC30-F183-4D96-AE00-E67291B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06AE86-0A51-469D-B06F-E7B2B039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ED490-8851-48B1-BBB0-D43C8DE1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46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E289-B09A-4E72-8BB7-380E1F24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3D96EF-4200-4D6C-8DC7-E3BBAD3BF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91F25-F7DD-4CCA-BAF9-92B117DA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784E5-B5E6-4709-BCA9-69FC45F6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31165-6A70-4C14-B73E-66E28DED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23D59-3DDA-47F2-B308-AC454A7F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DF3BF-7477-44BC-BA1F-7C7809CA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52E31D-F7B9-4F58-9335-937F84C5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9B6C25-1B17-4794-BCAF-0CCCBEF0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963F3A-0424-47D1-B9CC-6E9A5B85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DD3672-519C-4F83-AA53-11B120A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63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55239-15C2-4F47-B887-A7DEB4DA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F512C7-5BE8-4CE0-ABAA-AB66997E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AB5D7-F5C5-4918-8E5B-F68E6CAC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A85740-B5B3-4E39-9A69-DF5B5495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9EA6E-3670-4DD9-82E0-960B85C2F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F712CC-0B3C-4E68-9087-FB9EB59C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E5BC37-E163-4E9D-9E62-6FE9BD66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763CB9-D774-4905-9A53-41BCA741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0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46F7A-A610-4C7B-8620-65A1A478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EC7ED2-4EAB-44BB-9772-CA3BE12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D58D49-5DA8-4081-8D41-AD210AB4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64FA51-E78A-44E1-98FD-F7B16AC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3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9D2DBF-EBB5-451C-BE92-CC5D166C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2A9C1-20D6-4DFB-A8B4-37740B2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ADE724-FD62-44CB-888F-3D4B20E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6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40A2F-9A2C-4459-BFA2-7AE38651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76C02-AC5D-4012-8E79-E56712DE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ED3AB-6370-4255-AF69-8345192E9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6B5FE2-EFC8-42CE-AC13-B865DD4A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634443-4E55-4D68-AD64-DFED74FB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5D295-D37F-4D68-A079-DF616C27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3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EE2A2-9783-4276-9375-8CA40941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7805E7-DD31-4811-8C5B-7276A6465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9A87DF-B413-4841-A25A-8233B9B25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9ED02B-7073-4F31-8F59-EC154CC2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401AB8-0660-42DF-94A3-E5093FA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19A62D-04D5-4145-BF4A-87E6272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2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09AE-F391-4BD4-A0AF-9D4B2B37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033E7-D627-4EA3-B129-8FC5532C9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FE0ED-BC22-4120-8C56-A589FF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62388-EC02-4D58-B8E0-DAE1A678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28FB0-8A56-4F00-9E17-4855131D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52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7B33A9-AB59-45D0-96AD-777DE060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0F5AFB-5780-4095-82C2-7757D272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9B20F-BB25-4D88-B2B0-84BFAD7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829F14-1140-4D93-BB6B-9DF5EBE4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8B2141-047B-4FCF-AA85-F0A59318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38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3358F0-159B-504A-B9FD-FC998DAFB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18.05.2026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1627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61DFC-9213-474E-A172-AC5FBBD3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8DC243-D4F3-46F2-AA4B-17F436E5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7041C-FBA3-4AFB-9F6C-1850A322E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AA36-DFB3-4BD3-B693-E730B8B63A6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A50045-E6E3-492E-841D-9D062A7C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BDDDA-0332-4C66-9D2A-42AA7296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4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301E8-8277-2281-AFE5-ED8FE6FCB1CF}"/>
              </a:ext>
            </a:extLst>
          </p:cNvPr>
          <p:cNvSpPr txBox="1">
            <a:spLocks/>
          </p:cNvSpPr>
          <p:nvPr/>
        </p:nvSpPr>
        <p:spPr>
          <a:xfrm>
            <a:off x="1981200" y="2877149"/>
            <a:ext cx="8229600" cy="14700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sz="2400" dirty="0"/>
              <a:t>«ПРОГНОЗИРОВАНИЕ МЕХАНИЧЕСКИХ СВОЙСТВ КОМПОЗИТНОГО МАТЕРИАЛА ГИДРОКСИАПАТИТ-МУНТ МЕТОДАМИ МАШИННОГО ОБУЧЕНИЯ»</a:t>
            </a:r>
          </a:p>
          <a:p>
            <a:endParaRPr lang="ru-RU" sz="1400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E2F6D11-D3B9-B849-D13E-AC7D180E3392}"/>
              </a:ext>
            </a:extLst>
          </p:cNvPr>
          <p:cNvSpPr txBox="1">
            <a:spLocks/>
          </p:cNvSpPr>
          <p:nvPr/>
        </p:nvSpPr>
        <p:spPr>
          <a:xfrm>
            <a:off x="10322688" y="4992731"/>
            <a:ext cx="2952328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Выполнил: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Студент гр. 522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А.С. Голубев</a:t>
            </a: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AED48-D280-9A95-780C-FB5B51B8859B}"/>
              </a:ext>
            </a:extLst>
          </p:cNvPr>
          <p:cNvSpPr txBox="1"/>
          <p:nvPr/>
        </p:nvSpPr>
        <p:spPr>
          <a:xfrm>
            <a:off x="1474659" y="1099388"/>
            <a:ext cx="9242681" cy="465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815" algn="ctr">
              <a:lnSpc>
                <a:spcPct val="150000"/>
              </a:lnSpc>
            </a:pPr>
            <a:r>
              <a:rPr lang="ru-RU" sz="20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Гидроксиапатит (ГА) — основной минеральный компонент костной ткани, широко применяется в травматологии и ортопедии.</a:t>
            </a: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проблема: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керамика на основе чистого ГА обладает низкой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трещиностойкостью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хрупкостью.</a:t>
            </a: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Армирование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многостенными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углеродными нанотрубками (МУНТ)  повышает механические свойства.</a:t>
            </a: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зависимость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трещиностойкости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концентрации МУНТ — нелинейная и плохо изученная.</a:t>
            </a:r>
          </a:p>
          <a:p>
            <a:pPr indent="4476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Экспериментальное определение свойств для каждого состава — трудоёмкий и дорогостоящий процесс.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C566A-CA94-75CC-4119-3FC8D1DD7DD6}"/>
              </a:ext>
            </a:extLst>
          </p:cNvPr>
          <p:cNvSpPr txBox="1"/>
          <p:nvPr/>
        </p:nvSpPr>
        <p:spPr>
          <a:xfrm>
            <a:off x="2657779" y="419759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815" algn="ctr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Актуальность исследования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18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7A0F-EF85-CD73-BB09-A526733E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913897E-A656-F610-38E6-00E0D7BD951F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02594A7-995C-436F-323A-E0917F17B3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94EC5F62-F66E-CE0E-5144-D8C170C6ED4D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EDBB03EF-81CA-7B4A-C2D5-1B0B88FAA7A2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5A6A5-F469-69C9-E0F2-DE33B75490AB}"/>
              </a:ext>
            </a:extLst>
          </p:cNvPr>
          <p:cNvSpPr txBox="1"/>
          <p:nvPr/>
        </p:nvSpPr>
        <p:spPr>
          <a:xfrm>
            <a:off x="2582689" y="423565"/>
            <a:ext cx="702662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и задачи работы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6605F-3A18-5779-3682-FCE8F85A63B0}"/>
              </a:ext>
            </a:extLst>
          </p:cNvPr>
          <p:cNvSpPr txBox="1"/>
          <p:nvPr/>
        </p:nvSpPr>
        <p:spPr>
          <a:xfrm>
            <a:off x="1646431" y="1144282"/>
            <a:ext cx="9241702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SzPts val="1000"/>
              <a:tabLst>
                <a:tab pos="457200" algn="l"/>
                <a:tab pos="81026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работы:</a:t>
            </a:r>
          </a:p>
          <a:p>
            <a:pPr lvl="0" indent="447675" algn="just">
              <a:lnSpc>
                <a:spcPct val="150000"/>
              </a:lnSpc>
              <a:buSzPts val="1000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аппроксимационную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модель для прогнозирования механических свойств композита ГА-МУНТ</a:t>
            </a:r>
          </a:p>
          <a:p>
            <a:pPr lvl="0" algn="just">
              <a:buSzPts val="1000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  <a:tab pos="81026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Задачи:</a:t>
            </a:r>
          </a:p>
          <a:p>
            <a:pPr lvl="0" algn="just">
              <a:buSzPts val="1000"/>
              <a:tabLst>
                <a:tab pos="457200" algn="l"/>
                <a:tab pos="810260" algn="l"/>
              </a:tabLst>
            </a:pP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и предварительная подготовка исходных данных</a:t>
            </a: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архитектуры нейросети и подбор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гиперпараметров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Реализация ансамбля нейронных сетей (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bootstrap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aggregating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Прогнозирование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трещиностойкости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различных концентраций МУНТ</a:t>
            </a: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 algn="just">
              <a:buSzPts val="1000"/>
              <a:buFont typeface="Arial" panose="020B0604020202020204" pitchFamily="34" charset="0"/>
              <a:buChar char="•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результатов и влияния входных параметров (SHAP)</a:t>
            </a:r>
          </a:p>
        </p:txBody>
      </p:sp>
    </p:spTree>
    <p:extLst>
      <p:ext uri="{BB962C8B-B14F-4D97-AF65-F5344CB8AC3E}">
        <p14:creationId xmlns:p14="http://schemas.microsoft.com/office/powerpoint/2010/main" val="156957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C47B-B271-5018-2B2E-11CEF508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0BCEAFA-C664-B2E6-252A-89A26F2D531E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B3DC9807-D93C-399E-3F7B-E87B457E5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22E52EFB-5FB6-B66A-83E6-D050A0D43EE6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F06E5055-D5F0-E6ED-D843-74100CB2D58D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4C315-1AF7-0C66-D0DB-8857A1020E13}"/>
              </a:ext>
            </a:extLst>
          </p:cNvPr>
          <p:cNvSpPr txBox="1"/>
          <p:nvPr/>
        </p:nvSpPr>
        <p:spPr>
          <a:xfrm>
            <a:off x="2657779" y="439992"/>
            <a:ext cx="63814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0815" algn="ctr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набора данных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B2EB4-F176-10E6-800E-BB81B2470DC0}"/>
              </a:ext>
            </a:extLst>
          </p:cNvPr>
          <p:cNvSpPr txBox="1"/>
          <p:nvPr/>
        </p:nvSpPr>
        <p:spPr>
          <a:xfrm>
            <a:off x="6292382" y="1917800"/>
            <a:ext cx="4880101" cy="3510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  <a:tab pos="810260" algn="l"/>
              </a:tabLs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Параметры выборки: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–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полудиагональ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отпечатка индентора (геометрия вдавливания)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 – длина радиальной трещины от вершины отпечатка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 – пористость материала (зависит от концентрации МУНТ)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10260" algn="l"/>
              </a:tabLst>
            </a:pP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K₁c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целевая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трещиностойкость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B15EA7-801E-313C-F47F-6CF9191A2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17" y="1917800"/>
            <a:ext cx="4363326" cy="360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7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D4B2B-E68B-1BAB-DB5A-B87CF63C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9E8A829-B561-FA9D-6FBA-38C4DC27765F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E255CC3-751A-8AC3-FA30-D47ED054E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CCA7C9CC-A228-40B9-3D68-E551A7770E9B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D5199285-BB34-93F6-256D-86EC27DF8F64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B7145-92C2-65FF-222D-11BF96CDCFA7}"/>
              </a:ext>
            </a:extLst>
          </p:cNvPr>
          <p:cNvSpPr txBox="1"/>
          <p:nvPr/>
        </p:nvSpPr>
        <p:spPr>
          <a:xfrm>
            <a:off x="982719" y="297241"/>
            <a:ext cx="878578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Построение н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ейронной сети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33ED0-FC26-7BD1-0BF4-B84A9B57917E}"/>
              </a:ext>
            </a:extLst>
          </p:cNvPr>
          <p:cNvSpPr txBox="1"/>
          <p:nvPr/>
        </p:nvSpPr>
        <p:spPr>
          <a:xfrm>
            <a:off x="1635291" y="1241976"/>
            <a:ext cx="8921415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Многослойный перцептрон (MLP) — это тип искусственной нейронной сети, состоящий из нескольких слоёв нейронов, соединённых между собой. Он используется для решения задач регрессии, способен моделировать сложные нелинейные зависимости в данных.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9B0606-48CE-C604-ED75-2AE921688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757" y="2685976"/>
            <a:ext cx="6168484" cy="2930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1305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618B5-3961-2BAA-2C86-6756E06A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697550-CB73-9419-AE68-302F08EA3A16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08F1897-7C3A-4931-5929-CDFAC3DBC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9F303CB4-EEED-8E95-9D15-41D480291549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CD9771AE-DF50-9BBE-5FCB-93BF6C16E7BB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58B72-F288-294D-093D-AFB667675610}"/>
              </a:ext>
            </a:extLst>
          </p:cNvPr>
          <p:cNvSpPr txBox="1"/>
          <p:nvPr/>
        </p:nvSpPr>
        <p:spPr>
          <a:xfrm>
            <a:off x="1471927" y="352894"/>
            <a:ext cx="8469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64210" indent="-224790" algn="ctr">
              <a:spcBef>
                <a:spcPts val="5"/>
              </a:spcBef>
              <a:tabLst>
                <a:tab pos="933450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Выбор архитектуры нейронной сети</a:t>
            </a:r>
            <a:endParaRPr lang="ru-RU" sz="24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8900C-EC9E-FEE3-A1A6-CB5B829736F8}"/>
              </a:ext>
            </a:extLst>
          </p:cNvPr>
          <p:cNvSpPr txBox="1"/>
          <p:nvPr/>
        </p:nvSpPr>
        <p:spPr>
          <a:xfrm>
            <a:off x="1941614" y="968810"/>
            <a:ext cx="8469211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47675" algn="just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K-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fold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кросс-валидация — это метод оценки качества модели в машинном обучении, который позволяет получить более надёжную оценку её производительности по сравнению с простым разделением данных на обучающую и тестовую выборки.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065047-9965-A5D3-7F6B-5E1AE7FF0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097" y="2673379"/>
            <a:ext cx="5410870" cy="375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8872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E005-AA41-0AED-6824-93B2ED69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97EA49-E679-DD5F-3CF8-C9A7E3A25A06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BEE23FE-F9B9-B946-75B8-6722A3A59A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17BBD72-FC4C-389E-3EF5-F4F880D50577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DE360759-BD08-B44E-6515-A08431891F68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1E451-40BD-59B7-34FE-2E02D764DA28}"/>
              </a:ext>
            </a:extLst>
          </p:cNvPr>
          <p:cNvSpPr txBox="1"/>
          <p:nvPr/>
        </p:nvSpPr>
        <p:spPr>
          <a:xfrm>
            <a:off x="2074207" y="352894"/>
            <a:ext cx="7264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64210" indent="-224790" algn="ctr">
              <a:spcBef>
                <a:spcPts val="640"/>
              </a:spcBef>
              <a:tabLst>
                <a:tab pos="1341755" algn="l"/>
              </a:tabLst>
            </a:pPr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Выбор архитектуры нейронной сети</a:t>
            </a:r>
            <a:endParaRPr lang="ru-RU" sz="24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482FE89-F574-9F9A-CA23-82D50D78E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121467"/>
              </p:ext>
            </p:extLst>
          </p:nvPr>
        </p:nvGraphicFramePr>
        <p:xfrm>
          <a:off x="455823" y="2253074"/>
          <a:ext cx="5250710" cy="30047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2537">
                  <a:extLst>
                    <a:ext uri="{9D8B030D-6E8A-4147-A177-3AD203B41FA5}">
                      <a16:colId xmlns:a16="http://schemas.microsoft.com/office/drawing/2014/main" val="3716362756"/>
                    </a:ext>
                  </a:extLst>
                </a:gridCol>
                <a:gridCol w="1312537">
                  <a:extLst>
                    <a:ext uri="{9D8B030D-6E8A-4147-A177-3AD203B41FA5}">
                      <a16:colId xmlns:a16="http://schemas.microsoft.com/office/drawing/2014/main" val="3886768660"/>
                    </a:ext>
                  </a:extLst>
                </a:gridCol>
                <a:gridCol w="1312537">
                  <a:extLst>
                    <a:ext uri="{9D8B030D-6E8A-4147-A177-3AD203B41FA5}">
                      <a16:colId xmlns:a16="http://schemas.microsoft.com/office/drawing/2014/main" val="579523994"/>
                    </a:ext>
                  </a:extLst>
                </a:gridCol>
                <a:gridCol w="1313099">
                  <a:extLst>
                    <a:ext uri="{9D8B030D-6E8A-4147-A177-3AD203B41FA5}">
                      <a16:colId xmlns:a16="http://schemas.microsoft.com/office/drawing/2014/main" val="3908688710"/>
                    </a:ext>
                  </a:extLst>
                </a:gridCol>
              </a:tblGrid>
              <a:tr h="8945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Стратегия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21590"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Количество слоев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Количество нейронов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Функция активации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032586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tanh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533774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B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relu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694269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tanh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891862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D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relu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3899871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E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</a:rPr>
                        <a:t>relu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659543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C4A12B5-BF5F-17C7-F8F5-2E02E819C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91230"/>
              </p:ext>
            </p:extLst>
          </p:nvPr>
        </p:nvGraphicFramePr>
        <p:xfrm>
          <a:off x="6341215" y="2248723"/>
          <a:ext cx="5250711" cy="30047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0030">
                  <a:extLst>
                    <a:ext uri="{9D8B030D-6E8A-4147-A177-3AD203B41FA5}">
                      <a16:colId xmlns:a16="http://schemas.microsoft.com/office/drawing/2014/main" val="3974280585"/>
                    </a:ext>
                  </a:extLst>
                </a:gridCol>
                <a:gridCol w="1050030">
                  <a:extLst>
                    <a:ext uri="{9D8B030D-6E8A-4147-A177-3AD203B41FA5}">
                      <a16:colId xmlns:a16="http://schemas.microsoft.com/office/drawing/2014/main" val="480867578"/>
                    </a:ext>
                  </a:extLst>
                </a:gridCol>
                <a:gridCol w="1050030">
                  <a:extLst>
                    <a:ext uri="{9D8B030D-6E8A-4147-A177-3AD203B41FA5}">
                      <a16:colId xmlns:a16="http://schemas.microsoft.com/office/drawing/2014/main" val="2166720750"/>
                    </a:ext>
                  </a:extLst>
                </a:gridCol>
                <a:gridCol w="1050030">
                  <a:extLst>
                    <a:ext uri="{9D8B030D-6E8A-4147-A177-3AD203B41FA5}">
                      <a16:colId xmlns:a16="http://schemas.microsoft.com/office/drawing/2014/main" val="1099747397"/>
                    </a:ext>
                  </a:extLst>
                </a:gridCol>
                <a:gridCol w="1050591">
                  <a:extLst>
                    <a:ext uri="{9D8B030D-6E8A-4147-A177-3AD203B41FA5}">
                      <a16:colId xmlns:a16="http://schemas.microsoft.com/office/drawing/2014/main" val="3831524261"/>
                    </a:ext>
                  </a:extLst>
                </a:gridCol>
              </a:tblGrid>
              <a:tr h="8945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Стратегия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Количество слоев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Количество нейронов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Функция активации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Среднее </a:t>
                      </a:r>
                      <a:r>
                        <a:rPr lang="en-US" sz="1400" dirty="0">
                          <a:effectLst/>
                        </a:rPr>
                        <a:t>MSE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0115171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B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relu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0.00214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4152602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E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relu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ru-RU" sz="1400">
                          <a:effectLst/>
                        </a:rPr>
                        <a:t>.00238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1734405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D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relu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0.00244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2174166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C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32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tanh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0.00368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209777"/>
                  </a:ext>
                </a:extLst>
              </a:tr>
              <a:tr h="422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A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tanh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0.00371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881579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602800-FE46-E272-EB0C-577A1EF0D6AF}"/>
              </a:ext>
            </a:extLst>
          </p:cNvPr>
          <p:cNvSpPr txBox="1"/>
          <p:nvPr/>
        </p:nvSpPr>
        <p:spPr>
          <a:xfrm>
            <a:off x="7277100" y="1629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 K-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Fold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кросс-валидации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AA837-83F9-2C2C-C139-8F7FFE1FB811}"/>
              </a:ext>
            </a:extLst>
          </p:cNvPr>
          <p:cNvSpPr txBox="1"/>
          <p:nvPr/>
        </p:nvSpPr>
        <p:spPr>
          <a:xfrm>
            <a:off x="1123950" y="1629530"/>
            <a:ext cx="668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Стратегии архитектур нейронных сетей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465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BD84DAF-E152-4CBC-8AFF-9A834338369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6FDB2B52-9554-4B99-9A61-32CCCB85EA3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9AADA-CB57-3EE5-B624-90CD0BFDBD75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Ансамбль нейронных сетей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E7DAE-5508-D70F-9FFE-7D0CCA3FB3E4}"/>
              </a:ext>
            </a:extLst>
          </p:cNvPr>
          <p:cNvSpPr txBox="1"/>
          <p:nvPr/>
        </p:nvSpPr>
        <p:spPr>
          <a:xfrm>
            <a:off x="1337977" y="979079"/>
            <a:ext cx="9516042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Бутстрэп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-агрегация (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Bagging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Bootstrap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Aggregating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это метод ансамблевого обучения в машинном обучении, направленный на улучшение стабильности и точности моделей. Из исходного набора данных многократно случайным образом выбираются объекты с возвращением. Это означает, что некоторые объекты могут попасть в выборку несколько раз, а некоторые — ни разу.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0736D7E-9EA1-BE27-B008-56810BC59D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4" t="27300" r="9149"/>
          <a:stretch>
            <a:fillRect/>
          </a:stretch>
        </p:blipFill>
        <p:spPr bwMode="auto">
          <a:xfrm>
            <a:off x="2900360" y="3099147"/>
            <a:ext cx="6391275" cy="30352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8862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D47E-80FA-E252-7BE9-9A09FF25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C2DCE25-5BC9-DF2B-5A13-14A3FE4B2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AEB67AD-EEA0-BB8D-B295-F99C8F4BCE18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0944E534-E465-D126-0004-4342956BF74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BAC56-06AD-61C9-1A63-812683528990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Результаты обучения ансамбля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35A4EC-2EE2-D356-5E13-F1F69FB5F5B8}"/>
              </a:ext>
            </a:extLst>
          </p:cNvPr>
          <p:cNvSpPr txBox="1"/>
          <p:nvPr/>
        </p:nvSpPr>
        <p:spPr>
          <a:xfrm>
            <a:off x="1168778" y="3912200"/>
            <a:ext cx="9854438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47675" algn="just">
              <a:lnSpc>
                <a:spcPct val="15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повышения точности прогнозов было проведено усреднение отобранных моделей с помощью метода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бэггинга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что позволило улучшить точность предсказаний на основе экспериментальных данных. Средняя MSE ансамбля нейронных сетей составила 0.00076, 0.00099 и 0.00184 для концентраций МУНТ 0.0масс.%, 0.1масс.% и 0.5масс.% соответственно. В среднем это дает ошибку 0.00119, что на 23% ниже наименьшей ошибки среди нейросетевых моделей.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79BBF07-F542-4C14-7F2A-DA0EDF889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624831"/>
              </p:ext>
            </p:extLst>
          </p:nvPr>
        </p:nvGraphicFramePr>
        <p:xfrm>
          <a:off x="2437816" y="1215648"/>
          <a:ext cx="7316363" cy="26287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3116">
                  <a:extLst>
                    <a:ext uri="{9D8B030D-6E8A-4147-A177-3AD203B41FA5}">
                      <a16:colId xmlns:a16="http://schemas.microsoft.com/office/drawing/2014/main" val="3343934312"/>
                    </a:ext>
                  </a:extLst>
                </a:gridCol>
                <a:gridCol w="1463116">
                  <a:extLst>
                    <a:ext uri="{9D8B030D-6E8A-4147-A177-3AD203B41FA5}">
                      <a16:colId xmlns:a16="http://schemas.microsoft.com/office/drawing/2014/main" val="750100864"/>
                    </a:ext>
                  </a:extLst>
                </a:gridCol>
                <a:gridCol w="1463116">
                  <a:extLst>
                    <a:ext uri="{9D8B030D-6E8A-4147-A177-3AD203B41FA5}">
                      <a16:colId xmlns:a16="http://schemas.microsoft.com/office/drawing/2014/main" val="3847322993"/>
                    </a:ext>
                  </a:extLst>
                </a:gridCol>
                <a:gridCol w="1463116">
                  <a:extLst>
                    <a:ext uri="{9D8B030D-6E8A-4147-A177-3AD203B41FA5}">
                      <a16:colId xmlns:a16="http://schemas.microsoft.com/office/drawing/2014/main" val="4278126510"/>
                    </a:ext>
                  </a:extLst>
                </a:gridCol>
                <a:gridCol w="1463899">
                  <a:extLst>
                    <a:ext uri="{9D8B030D-6E8A-4147-A177-3AD203B41FA5}">
                      <a16:colId xmlns:a16="http://schemas.microsoft.com/office/drawing/2014/main" val="872682314"/>
                    </a:ext>
                  </a:extLst>
                </a:gridCol>
              </a:tblGrid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Модель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0.0масс.%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0.1масс.%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0.5масс.%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MSE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8401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0.00086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0.0011</a:t>
                      </a: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r>
                        <a:rPr lang="ru-RU" sz="1400">
                          <a:effectLst/>
                        </a:rPr>
                        <a:t>.00263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0.00153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1600160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0.00093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0.00111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0.00289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0.00164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1974590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0.00115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0.0015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0.00266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0.00177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2011197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0.00178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0.00159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0.00201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0.00179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7383663"/>
                  </a:ext>
                </a:extLst>
              </a:tr>
              <a:tr h="438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0.00115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0.00154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0.0027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0.0018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1335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958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985FF-72B1-B7EF-4005-0A74E6C5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34FD36C5-12E6-C7D1-6988-945BD3DAC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6A716E-0562-8B5D-1C22-84D1B81405B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7BD7DC88-61B0-A16B-EBCE-A4823A4ED064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124DF-F603-A5EB-91F3-1A9FD4EA8757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Прогнозирование </a:t>
            </a:r>
            <a:r>
              <a:rPr lang="ru-RU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трещиностойкости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D781F-A08B-A30C-8F12-286490B6408E}"/>
              </a:ext>
            </a:extLst>
          </p:cNvPr>
          <p:cNvSpPr txBox="1"/>
          <p:nvPr/>
        </p:nvSpPr>
        <p:spPr>
          <a:xfrm>
            <a:off x="1533239" y="1469731"/>
            <a:ext cx="9125517" cy="430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47675" algn="just">
              <a:lnSpc>
                <a:spcPct val="150000"/>
              </a:lnSpc>
              <a:spcAft>
                <a:spcPts val="800"/>
              </a:spcAft>
              <a:tabLst>
                <a:tab pos="5826125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Чтобы построить непрерывную зависимость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трещиностойкости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 содержания МУНТ, была сформирована сетка значений концентраций, варьирующихся от 0 до 0,5 масс.% с шагом 0,01. Для каждого значения концентрации МУНТ необходимо было определить K_1C (a, c), охватывая всю сетку значений параметров a и c. Сетка была создана с 100 значениями по каждому из параметров, что в сумме составило 10 000 точек для каждой концентрации.</a:t>
            </a:r>
          </a:p>
          <a:p>
            <a:pPr lvl="0" indent="447675" algn="just">
              <a:lnSpc>
                <a:spcPct val="150000"/>
              </a:lnSpc>
              <a:spcAft>
                <a:spcPts val="800"/>
              </a:spcAft>
              <a:tabLst>
                <a:tab pos="5826125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применением разработанного ансамбля нейронных сетей осуществлено прогнозирование поверхностей K_1C(a, c) в диапазоне концентраций МУНТ от 0 до 0.5масс.% с шагом 0,01%. Для каждой конкретной концентрации было вычислено среднее значение K_1C по сетке параметров a и c.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060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4EBD0-9993-B134-9994-13D8D32F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6A3DDDF4-9DA7-A597-9E86-63383BCECE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64F31-B6DB-1902-ECD7-D82AFA2D3B41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D8A29213-B11E-2EDA-DCA6-00F2AFB2635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66809-0ADE-79C3-D4A1-482B86EB137C}"/>
              </a:ext>
            </a:extLst>
          </p:cNvPr>
          <p:cNvSpPr txBox="1"/>
          <p:nvPr/>
        </p:nvSpPr>
        <p:spPr>
          <a:xfrm>
            <a:off x="2437817" y="358018"/>
            <a:ext cx="731636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результатов прогнозирования </a:t>
            </a:r>
            <a:r>
              <a:rPr lang="ru-RU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трещиностойкости</a:t>
            </a:r>
            <a:endParaRPr lang="ru-RU" sz="24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200"/>
              </a:spcBef>
            </a:pP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9D05A3-D927-661A-289B-EE18BD9F267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1"/>
          <a:stretch>
            <a:fillRect/>
          </a:stretch>
        </p:blipFill>
        <p:spPr bwMode="auto">
          <a:xfrm>
            <a:off x="1643266" y="1448873"/>
            <a:ext cx="8833552" cy="43418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5061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B7E6B-885E-DDE1-1E71-F89905BB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2A99CF3-4390-4CED-7232-37475D7ED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7DE9350-BC1B-9D6E-1BA8-746BC501BE05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CAFC2165-6296-4965-637D-EA0934B52937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58413-6A97-1BC7-3DCA-502C3FC4DFC4}"/>
              </a:ext>
            </a:extLst>
          </p:cNvPr>
          <p:cNvSpPr txBox="1"/>
          <p:nvPr/>
        </p:nvSpPr>
        <p:spPr>
          <a:xfrm>
            <a:off x="2437819" y="352894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для анализа влияния признаков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AD34C-992B-5C73-2EDC-6C644CC4553A}"/>
              </a:ext>
            </a:extLst>
          </p:cNvPr>
          <p:cNvSpPr txBox="1"/>
          <p:nvPr/>
        </p:nvSpPr>
        <p:spPr>
          <a:xfrm>
            <a:off x="1385884" y="1128190"/>
            <a:ext cx="942022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SHapley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метод интерпретации прогнозов моделей машинного обучения, основанный на концепции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Shapley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значений, разработанной Ллойдом Шепли (1953) в рамках теории кооперативных игр. В игре участвуют N игроков, которые совместно создают некоторую ценность. Требуется справедливо распределить общую ценность между игроками.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F9E018-FFA9-D3EE-E25B-921AA485D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58" y="3453090"/>
            <a:ext cx="6391275" cy="22767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3688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2E78D-C10C-2F18-40A4-8FC9B5D2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A95A1F4-613B-164E-136E-B7406B9C4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957B790-482E-7A21-F41A-63551DB38076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25DD71CF-1799-2CF2-FCED-2CD7CAA1FDA2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9AF30-963F-B4EE-632B-528BF2D15B80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SHAP-</a:t>
            </a: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81E92F-22EE-5EBA-C001-2B6F7AD5B6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656"/>
          <a:stretch>
            <a:fillRect/>
          </a:stretch>
        </p:blipFill>
        <p:spPr bwMode="auto">
          <a:xfrm>
            <a:off x="2437817" y="1280453"/>
            <a:ext cx="7566184" cy="32866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9D69D1-19D3-488C-05D5-A59AB945A9B8}"/>
              </a:ext>
            </a:extLst>
          </p:cNvPr>
          <p:cNvSpPr txBox="1"/>
          <p:nvPr/>
        </p:nvSpPr>
        <p:spPr>
          <a:xfrm>
            <a:off x="1701286" y="4825420"/>
            <a:ext cx="903924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Относительная важность признаков для </a:t>
            </a:r>
            <a:r>
              <a:rPr lang="ru-RU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K₁c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полудиагональ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59.6% (доминирует)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(длина трещины) - 24.7%, 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(пористость) - 15.7%</a:t>
            </a:r>
          </a:p>
        </p:txBody>
      </p:sp>
    </p:spTree>
    <p:extLst>
      <p:ext uri="{BB962C8B-B14F-4D97-AF65-F5344CB8AC3E}">
        <p14:creationId xmlns:p14="http://schemas.microsoft.com/office/powerpoint/2010/main" val="3842825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E929E-65B3-9E31-CE54-F44CA7EB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A6AA690-A5DA-EBF1-926D-832B630AFC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74CF65-949D-15BC-1E90-2BCE2CECF102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4E9A47C3-CEDB-4A56-4303-EA280B06DD80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AF3EA-5755-0336-631C-5776FE7E2FAF}"/>
              </a:ext>
            </a:extLst>
          </p:cNvPr>
          <p:cNvSpPr txBox="1"/>
          <p:nvPr/>
        </p:nvSpPr>
        <p:spPr>
          <a:xfrm>
            <a:off x="2437817" y="358018"/>
            <a:ext cx="7316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2400" b="1" kern="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9669C-3EA2-B874-2FBC-058F225C86B0}"/>
              </a:ext>
            </a:extLst>
          </p:cNvPr>
          <p:cNvSpPr txBox="1"/>
          <p:nvPr/>
        </p:nvSpPr>
        <p:spPr>
          <a:xfrm>
            <a:off x="1429830" y="1308932"/>
            <a:ext cx="9701841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рамках выполнения преддипломной практики был разработан и теоретически обоснован метод прогнозирования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трещиностойкости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композиционного материала на основе гидроксиапатита, модифицированного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многостенными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углеродными нанотрубками (МУНТ). В основу данного метода положен ансамбль нейронных сетей, дополненный SHAP-анализом, что позволяет обеспечить высокую точность и надежность прогнозирования.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1205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Words>790</Words>
  <Application>Microsoft Office PowerPoint</Application>
  <PresentationFormat>Широкоэкранный</PresentationFormat>
  <Paragraphs>164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Nekst Bold</vt:lpstr>
      <vt:lpstr>Symbol</vt:lpstr>
      <vt:lpstr>Times New Roman</vt:lpstr>
      <vt:lpstr>Verdana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образования: итоги 2021</dc:title>
  <dc:creator>User</dc:creator>
  <cp:lastModifiedBy>golubev andrew</cp:lastModifiedBy>
  <cp:revision>62</cp:revision>
  <dcterms:created xsi:type="dcterms:W3CDTF">2022-06-29T03:22:44Z</dcterms:created>
  <dcterms:modified xsi:type="dcterms:W3CDTF">2026-05-17T22:35:22Z</dcterms:modified>
</cp:coreProperties>
</file>