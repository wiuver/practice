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81" r:id="rId3"/>
    <p:sldId id="443" r:id="rId4"/>
    <p:sldId id="455" r:id="rId5"/>
    <p:sldId id="444" r:id="rId6"/>
    <p:sldId id="445" r:id="rId7"/>
    <p:sldId id="446" r:id="rId8"/>
    <p:sldId id="447" r:id="rId9"/>
    <p:sldId id="282" r:id="rId10"/>
    <p:sldId id="448" r:id="rId11"/>
    <p:sldId id="449" r:id="rId12"/>
    <p:sldId id="450" r:id="rId13"/>
    <p:sldId id="456" r:id="rId14"/>
    <p:sldId id="451" r:id="rId15"/>
    <p:sldId id="452" r:id="rId16"/>
    <p:sldId id="453" r:id="rId17"/>
    <p:sldId id="454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388D"/>
    <a:srgbClr val="B3B2CB"/>
    <a:srgbClr val="6F6CA8"/>
    <a:srgbClr val="C3F0F8"/>
    <a:srgbClr val="72DBEF"/>
    <a:srgbClr val="E2EEC4"/>
    <a:srgbClr val="BCD675"/>
    <a:srgbClr val="D1BED9"/>
    <a:srgbClr val="9366A6"/>
    <a:srgbClr val="7CDD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54"/>
    <p:restoredTop sz="94668"/>
  </p:normalViewPr>
  <p:slideViewPr>
    <p:cSldViewPr snapToGrid="0">
      <p:cViewPr varScale="1">
        <p:scale>
          <a:sx n="65" d="100"/>
          <a:sy n="65" d="100"/>
        </p:scale>
        <p:origin x="12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A99640-FDFF-554B-8155-2A4ABB0BB1C0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B55478-82A6-BE44-8EFA-5CC00A4527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0091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4491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B3C72-B58B-3A05-38EC-811DBCB4E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7A656AD-794A-F799-0349-9B66493E49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A7C46F1-8BDB-C171-6A11-937B08346E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E5FAED-4AF6-C1AD-D45B-EBAE864AA1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5978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48556-41BB-38CA-F87F-DD94D54E1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51B3A64-8C40-71F0-45C5-CC700472D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BD66F36-B386-DEB7-4508-48091F57E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3444832-D753-7734-F735-2221B362CC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1861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0A80B-001E-387B-F17B-9618E75B4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343CD26-9136-FFE5-FC08-32053CD54F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0831CFD-619E-231C-FCD1-EC3545CC8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548F1D1-0D85-DA48-F2D7-E0C9E40F7E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1819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4A5D9-1A6E-F885-FD6A-F21DBF37E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702555B-1F5F-B8CF-E244-024619D84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026F0F8-C7FF-4BFA-DED8-AFFD8ABBD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7D9C727-5B4A-A200-7D75-2B34EEB670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36345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E3C33-ECD9-1EE2-F719-56FBC4C2D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A28F6E7-6853-9898-B1FD-189C51F5D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C4C09E5-2AF7-B048-6D05-869B7B6E64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35D9258-76D0-8E2D-E44F-4DAA90313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65917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15A50-EC46-CA12-DEFC-DDDB9F754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47AEDA4-F237-E452-0177-DF7EB9430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FF2D60D-833B-1BFD-5F5E-418DE280DE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D946BD-4564-97EF-1EDB-7C0B515B1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57232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15349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51C37-6EDE-0D87-5476-AC016E45B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4838A6C-E161-C586-C87C-5FBA914A77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F67F14F-F8B3-297D-7CDA-25C0295A0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728EFBD-B235-BA1E-512D-E0DC4AA5ED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67108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DB609-7044-6E74-9072-4325B798A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2560F27-D1F0-9A5B-A1B7-1F972D2226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7FA1A2F-1E96-C148-A273-A8D2E23AB0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226D692-7720-3A4D-8990-A9C059E96D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05231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772C1-DAB3-2B49-FEF7-3EFD99095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82211E8-F980-3C14-7083-0BBDF9A4E4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E7DDC05-207A-A760-CDEC-B0D86464EF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A888FFB-9DB4-DA32-40B0-C3A4B068CC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42673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13D3A-1DA1-C8AD-E656-D6BFD1CA4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52233D8-05AB-C4BF-CD03-F1F5CAF1BC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5A40B37-A466-ACE7-A2D2-FF8D79A137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011B80A-B495-6E9A-9E07-F10723F982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8541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FAD28-E043-4323-EF41-D999C3A96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47A8376-7467-6C6F-6103-FE3BA570B2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F56D217-8818-08E3-24C0-8FA4BA445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F433E38-5AED-8646-C719-9DB182B9D6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40274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D29A4-88C4-E179-E2E7-AABA67C34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9561BAE-9331-9F6D-1962-4B8625999D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99E0558-65B5-8E39-AD10-BA2E35CE1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85735BF-65F7-E8CC-8FE1-704BD2B2A6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96524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A7D45-3EA2-29D6-5306-7AE2EB05D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555B1B7-3F90-B235-F111-82C68A6AB9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4C3A4F8-34D9-56F3-9A06-A94C2545E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3EA007C-37F9-CA60-743B-F5ABED2EAB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94966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0D4E0-5A5E-F93C-4E89-34A3FD90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E10241A-89F3-587B-D523-FC97C5A8E7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0BCA215-9EB1-47C5-FDA2-50DE1D6F8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E134B61-2580-800B-DA2A-51D22F55B2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9524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70707D-31DF-4198-B226-3E86B72270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962504C-6F4D-40E7-8C48-673B65E27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D3BBD7-AAB6-4B8E-A07C-AA3217EE8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478760-7C9F-4EAD-97A8-37EDECB58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044B74-2CE6-4717-BE07-A7E8F512D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716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DD19CE-6856-4233-B020-94CF3DF5C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232382-DAD4-41F8-B3C7-B0214FDCB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EFBC30-F183-4D96-AE00-E67291B5A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06AE86-0A51-469D-B06F-E7B2B039B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0ED490-8851-48B1-BBB0-D43C8DE15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7465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16E289-B09A-4E72-8BB7-380E1F24E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73D96EF-4200-4D6C-8DC7-E3BBAD3BF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D91F25-F7DD-4CCA-BAF9-92B117DA7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F784E5-B5E6-4709-BCA9-69FC45F6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D31165-6A70-4C14-B73E-66E28DEDD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03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123D59-3DDA-47F2-B308-AC454A7F3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CDF3BF-7477-44BC-BA1F-7C7809CA9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052E31D-F7B9-4F58-9335-937F84C56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F9B6C25-1B17-4794-BCAF-0CCCBEF0E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7963F3A-0424-47D1-B9CC-6E9A5B851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CDD3672-519C-4F83-AA53-11B120AE0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3635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455239-15C2-4F47-B887-A7DEB4DA3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F512C7-5BE8-4CE0-ABAA-AB66997EE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BAB5D7-F5C5-4918-8E5B-F68E6CACD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A85740-B5B3-4E39-9A69-DF5B549529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0D9EA6E-3670-4DD9-82E0-960B85C2F8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DF712CC-0B3C-4E68-9087-FB9EB59C5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DE5BC37-E163-4E9D-9E62-6FE9BD663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2763CB9-D774-4905-9A53-41BCA7412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074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B46F7A-A610-4C7B-8620-65A1A4782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FEC7ED2-4EAB-44BB-9772-CA3BE12C5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1D58D49-5DA8-4081-8D41-AD210AB49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964FA51-E78A-44E1-98FD-F7B16AC47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434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C9D2DBF-EBB5-451C-BE92-CC5D166CD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062A9C1-20D6-4DFB-A8B4-37740B2FD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ADE724-FD62-44CB-888F-3D4B20E31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356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D40A2F-9A2C-4459-BFA2-7AE386515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676C02-AC5D-4012-8E79-E56712DE2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CDED3AB-6370-4255-AF69-8345192E9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6B5FE2-EFC8-42CE-AC13-B865DD4A4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634443-4E55-4D68-AD64-DFED74FB1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25D295-D37F-4D68-A079-DF616C27E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4331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EEE2A2-9783-4276-9375-8CA409414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77805E7-DD31-4811-8C5B-7276A6465B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79A87DF-B413-4841-A25A-8233B9B25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E9ED02B-7073-4F31-8F59-EC154CC24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A401AB8-0660-42DF-94A3-E5093FA55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719A62D-04D5-4145-BF4A-87E627210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2228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6909AE-F391-4BD4-A0AF-9D4B2B374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0A033E7-D627-4EA3-B129-8FC5532C9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AFE0ED-BC22-4120-8C56-A589FF297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E62388-EC02-4D58-B8E0-DAE1A678D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628FB0-8A56-4F00-9E17-4855131D9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0520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67B33A9-AB59-45D0-96AD-777DE0609F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D0F5AFB-5780-4095-82C2-7757D2720A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D9B20F-BB25-4D88-B2B0-84BFAD704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829F14-1140-4D93-BB6B-9DF5EBE44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8B2141-047B-4FCF-AA85-F0A59318B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0389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53358F0-159B-504A-B9FD-FC998DAFB9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60" b="1617"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7" name="Дата 3">
            <a:extLst>
              <a:ext uri="{FF2B5EF4-FFF2-40B4-BE49-F238E27FC236}">
                <a16:creationId xmlns:a16="http://schemas.microsoft.com/office/drawing/2014/main" id="{7723E2FE-6012-4501-ACDB-3FECEA31DB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09454" y="60304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273C401B-1B14-4810-BA37-2D3B4ECEFE53}" type="datetime1">
              <a:rPr lang="ru-RU" smtClean="0"/>
              <a:t>16.06.2026</a:t>
            </a:fld>
            <a:endParaRPr lang="ru-RU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869C74DB-AE1A-437B-ACD9-E27CA6D7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86481"/>
            <a:ext cx="10515600" cy="17719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60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8E4B5BDC-B674-4D6C-BB4A-C5841B4B4B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6017895"/>
            <a:ext cx="4140200" cy="365125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/>
              <a:t>вспомогательный текст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FCA9203-8CF5-40F9-9015-089D63E9FA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1225" y="626121"/>
            <a:ext cx="2646405" cy="72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016274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B61DFC-9213-474E-A172-AC5FBBD3D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8DC243-D4F3-46F2-AA4B-17F436E5B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57041C-FBA3-4AFB-9F6C-1850A322E7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63AA36-DFB3-4BD3-B693-E730B8B63A63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A50045-E6E3-492E-841D-9D062A7C48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7BDDDA-0332-4C66-9D2A-42AA729693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649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A301E8-8277-2281-AFE5-ED8FE6FCB1CF}"/>
              </a:ext>
            </a:extLst>
          </p:cNvPr>
          <p:cNvSpPr txBox="1">
            <a:spLocks/>
          </p:cNvSpPr>
          <p:nvPr/>
        </p:nvSpPr>
        <p:spPr>
          <a:xfrm>
            <a:off x="1981200" y="2972399"/>
            <a:ext cx="8229600" cy="1470025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r>
              <a:rPr lang="ru-RU" sz="2400" dirty="0"/>
              <a:t>«ПРОГНОЗИРОВАНИЕ МЕХАНИЧЕСКИХ СВОЙСТВ КОМПОЗИТНОГО МАТЕРИАЛА ГИДРОКСИАПАТИТ-МУНТ МЕТОДАМИ МАШИННОГО ОБУЧЕНИЯ»</a:t>
            </a:r>
          </a:p>
          <a:p>
            <a:endParaRPr lang="ru-RU" sz="1400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4E2F6D11-D3B9-B849-D13E-AC7D180E3392}"/>
              </a:ext>
            </a:extLst>
          </p:cNvPr>
          <p:cNvSpPr txBox="1">
            <a:spLocks/>
          </p:cNvSpPr>
          <p:nvPr/>
        </p:nvSpPr>
        <p:spPr>
          <a:xfrm>
            <a:off x="9982200" y="4564106"/>
            <a:ext cx="2952328" cy="1752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Выполнил: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Студент гр. 522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А.С. Голубев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600" dirty="0">
              <a:solidFill>
                <a:schemeClr val="bg1"/>
              </a:solidFill>
              <a:latin typeface="Calibri"/>
            </a:endParaRPr>
          </a:p>
          <a:p>
            <a:pPr algn="l"/>
            <a:r>
              <a:rPr lang="ru-RU" sz="1600" dirty="0">
                <a:solidFill>
                  <a:schemeClr val="bg1"/>
                </a:solidFill>
              </a:rPr>
              <a:t>Руководитель:</a:t>
            </a:r>
          </a:p>
          <a:p>
            <a:pPr algn="l"/>
            <a:r>
              <a:rPr lang="ru-RU" sz="1600" dirty="0">
                <a:solidFill>
                  <a:schemeClr val="bg1"/>
                </a:solidFill>
              </a:rPr>
              <a:t>доцент каф. КСУП, к.т.н.</a:t>
            </a:r>
          </a:p>
          <a:p>
            <a:pPr algn="l"/>
            <a:r>
              <a:rPr lang="ru-RU" sz="1600" dirty="0">
                <a:solidFill>
                  <a:schemeClr val="bg1"/>
                </a:solidFill>
              </a:rPr>
              <a:t>М.И. Кочергин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C199A5-C403-9793-9D54-F7247D0FD7BB}"/>
              </a:ext>
            </a:extLst>
          </p:cNvPr>
          <p:cNvSpPr txBox="1"/>
          <p:nvPr/>
        </p:nvSpPr>
        <p:spPr>
          <a:xfrm>
            <a:off x="3609975" y="324126"/>
            <a:ext cx="4972049" cy="1774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ru-RU" sz="16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Федеральное государственное автономное образовательное учреждение высшего образования</a:t>
            </a:r>
          </a:p>
          <a:p>
            <a:pPr algn="ctr">
              <a:lnSpc>
                <a:spcPct val="115000"/>
              </a:lnSpc>
              <a:buNone/>
            </a:pPr>
            <a:r>
              <a:rPr lang="ru-RU" sz="1600" b="1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ТОМСКИЙ ГОСУДАРСТВЕННЫЙ УНИВЕРСИТЕТ СИСТЕМ УПРАВЛЕНИЯ И РАДИОЭЛЕКТРОНИКИ (ТУСУР)</a:t>
            </a:r>
            <a:endParaRPr lang="ru-RU" sz="1600" dirty="0">
              <a:solidFill>
                <a:schemeClr val="bg1"/>
              </a:solidFill>
              <a:effectLst/>
              <a:ea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buNone/>
            </a:pPr>
            <a:r>
              <a:rPr lang="ru-RU" sz="16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Кафедра компьютерных систем в управлении и проектировании (КСУП)</a:t>
            </a:r>
          </a:p>
        </p:txBody>
      </p:sp>
    </p:spTree>
    <p:extLst>
      <p:ext uri="{BB962C8B-B14F-4D97-AF65-F5344CB8AC3E}">
        <p14:creationId xmlns:p14="http://schemas.microsoft.com/office/powerpoint/2010/main" val="444869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z="160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</a:t>
            </a:fld>
            <a:endParaRPr lang="ru-RU" sz="1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FAED48-D280-9A95-780C-FB5B51B8859B}"/>
              </a:ext>
            </a:extLst>
          </p:cNvPr>
          <p:cNvSpPr txBox="1"/>
          <p:nvPr/>
        </p:nvSpPr>
        <p:spPr>
          <a:xfrm>
            <a:off x="1474659" y="1099388"/>
            <a:ext cx="9242681" cy="465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0815" algn="ctr">
              <a:lnSpc>
                <a:spcPct val="150000"/>
              </a:lnSpc>
            </a:pPr>
            <a:r>
              <a:rPr lang="ru-RU" sz="2000" b="1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4767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Гидроксиапатит (ГА) — основной минеральный компонент костной ткани, широко применяется в травматологии и ортопедии.</a:t>
            </a:r>
          </a:p>
          <a:p>
            <a:pPr indent="44767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Ключевая проблема: керамика на основе чистого ГА обладает низкой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трещиностойкостью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хрупкостью.</a:t>
            </a:r>
          </a:p>
          <a:p>
            <a:pPr indent="44767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Армирование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многостенными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углеродными нанотрубками (МУНТ)  повышает механические свойства.</a:t>
            </a:r>
          </a:p>
          <a:p>
            <a:pPr indent="44767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Сложность: зависимость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трещиностойкости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концентрации МУНТ — нелинейная и плохо изученная.</a:t>
            </a:r>
          </a:p>
          <a:p>
            <a:pPr indent="44767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Экспериментальное определение свойств для каждого состава — трудоёмкий и дорогостоящий процесс.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EC566A-CA94-75CC-4119-3FC8D1DD7DD6}"/>
              </a:ext>
            </a:extLst>
          </p:cNvPr>
          <p:cNvSpPr txBox="1"/>
          <p:nvPr/>
        </p:nvSpPr>
        <p:spPr>
          <a:xfrm>
            <a:off x="2657779" y="419759"/>
            <a:ext cx="6097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0815" algn="ctr"/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Актуальность исследования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188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D7A0F-EF85-CD73-BB09-A526733EA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913897E-A656-F610-38E6-00E0D7BD951F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F02594A7-995C-436F-323A-E0917F17B3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94EC5F62-F66E-CE0E-5144-D8C170C6ED4D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EDBB03EF-81CA-7B4A-C2D5-1B0B88FAA7A2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z="160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</a:t>
            </a:fld>
            <a:endParaRPr lang="ru-RU" sz="1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05A6A5-F469-69C9-E0F2-DE33B75490AB}"/>
              </a:ext>
            </a:extLst>
          </p:cNvPr>
          <p:cNvSpPr txBox="1"/>
          <p:nvPr/>
        </p:nvSpPr>
        <p:spPr>
          <a:xfrm>
            <a:off x="2582689" y="423565"/>
            <a:ext cx="7026620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Цель и задачи работы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46605F-3A18-5779-3682-FCE8F85A63B0}"/>
              </a:ext>
            </a:extLst>
          </p:cNvPr>
          <p:cNvSpPr txBox="1"/>
          <p:nvPr/>
        </p:nvSpPr>
        <p:spPr>
          <a:xfrm>
            <a:off x="1646431" y="1144282"/>
            <a:ext cx="9241702" cy="4693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SzPts val="1000"/>
              <a:tabLst>
                <a:tab pos="457200" algn="l"/>
                <a:tab pos="810260" algn="l"/>
              </a:tabLs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Цель работы:</a:t>
            </a:r>
          </a:p>
          <a:p>
            <a:pPr lvl="0" indent="447675" algn="just">
              <a:lnSpc>
                <a:spcPct val="150000"/>
              </a:lnSpc>
              <a:buSzPts val="1000"/>
              <a:tabLst>
                <a:tab pos="457200" algn="l"/>
                <a:tab pos="810260" algn="l"/>
              </a:tabLs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Разработать </a:t>
            </a:r>
            <a:r>
              <a:rPr lang="ru-R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аппроксимационную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модель для прогнозирования механических свойств композита ГА-МУНТ</a:t>
            </a:r>
          </a:p>
          <a:p>
            <a:pPr lvl="0" algn="just">
              <a:buSzPts val="1000"/>
              <a:tabLst>
                <a:tab pos="457200" algn="l"/>
                <a:tab pos="810260" algn="l"/>
              </a:tabLst>
            </a:pPr>
            <a:endParaRPr lang="ru-RU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  <a:tab pos="810260" algn="l"/>
              </a:tabLs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Задачи:</a:t>
            </a:r>
          </a:p>
          <a:p>
            <a:pPr lvl="0" algn="just">
              <a:buSzPts val="1000"/>
              <a:tabLst>
                <a:tab pos="457200" algn="l"/>
                <a:tab pos="810260" algn="l"/>
              </a:tabLst>
            </a:pPr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0" indent="-457200" algn="just">
              <a:buSzPts val="1000"/>
              <a:buFont typeface="Arial" panose="020B0604020202020204" pitchFamily="34" charset="0"/>
              <a:buChar char="•"/>
              <a:tabLst>
                <a:tab pos="457200" algn="l"/>
                <a:tab pos="810260" algn="l"/>
              </a:tabLs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Анализ и предварительная подготовка исходных данных</a:t>
            </a:r>
          </a:p>
          <a:p>
            <a:pPr marL="457200" lvl="0" indent="-457200" algn="just">
              <a:buSzPts val="1000"/>
              <a:buFont typeface="Arial" panose="020B0604020202020204" pitchFamily="34" charset="0"/>
              <a:buChar char="•"/>
              <a:tabLst>
                <a:tab pos="457200" algn="l"/>
                <a:tab pos="810260" algn="l"/>
              </a:tabLst>
            </a:pPr>
            <a:endParaRPr lang="ru-RU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0" indent="-457200" algn="just">
              <a:buSzPts val="1000"/>
              <a:buFont typeface="Arial" panose="020B0604020202020204" pitchFamily="34" charset="0"/>
              <a:buChar char="•"/>
              <a:tabLst>
                <a:tab pos="457200" algn="l"/>
                <a:tab pos="810260" algn="l"/>
              </a:tabLs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архитектуры нейросети и подбор </a:t>
            </a:r>
            <a:r>
              <a:rPr lang="ru-R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гиперпараметров</a:t>
            </a:r>
            <a:endParaRPr lang="ru-RU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0" indent="-457200" algn="just">
              <a:buSzPts val="1000"/>
              <a:buFont typeface="Arial" panose="020B0604020202020204" pitchFamily="34" charset="0"/>
              <a:buChar char="•"/>
              <a:tabLst>
                <a:tab pos="457200" algn="l"/>
                <a:tab pos="810260" algn="l"/>
              </a:tabLst>
            </a:pPr>
            <a:endParaRPr lang="ru-RU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0" indent="-457200" algn="just">
              <a:buSzPts val="1000"/>
              <a:buFont typeface="Arial" panose="020B0604020202020204" pitchFamily="34" charset="0"/>
              <a:buChar char="•"/>
              <a:tabLst>
                <a:tab pos="457200" algn="l"/>
                <a:tab pos="810260" algn="l"/>
              </a:tabLs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Реализация ансамбля нейронных сетей (</a:t>
            </a:r>
            <a:r>
              <a:rPr lang="ru-R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bootstrap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aggregating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marL="457200" lvl="0" indent="-457200" algn="just">
              <a:buSzPts val="1000"/>
              <a:buFont typeface="Arial" panose="020B0604020202020204" pitchFamily="34" charset="0"/>
              <a:buChar char="•"/>
              <a:tabLst>
                <a:tab pos="457200" algn="l"/>
                <a:tab pos="810260" algn="l"/>
              </a:tabLst>
            </a:pPr>
            <a:endParaRPr lang="ru-RU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0" indent="-457200" algn="just">
              <a:buSzPts val="1000"/>
              <a:buFont typeface="Arial" panose="020B0604020202020204" pitchFamily="34" charset="0"/>
              <a:buChar char="•"/>
              <a:tabLst>
                <a:tab pos="457200" algn="l"/>
                <a:tab pos="810260" algn="l"/>
              </a:tabLs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Прогнозирование </a:t>
            </a:r>
            <a:r>
              <a:rPr lang="ru-R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трещиностойкости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для различных концентраций МУНТ</a:t>
            </a:r>
          </a:p>
          <a:p>
            <a:pPr marL="457200" lvl="0" indent="-457200" algn="just">
              <a:buSzPts val="1000"/>
              <a:buFont typeface="Arial" panose="020B0604020202020204" pitchFamily="34" charset="0"/>
              <a:buChar char="•"/>
              <a:tabLst>
                <a:tab pos="457200" algn="l"/>
                <a:tab pos="810260" algn="l"/>
              </a:tabLst>
            </a:pPr>
            <a:endParaRPr lang="ru-RU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0" indent="-457200" algn="just">
              <a:buSzPts val="1000"/>
              <a:buFont typeface="Arial" panose="020B0604020202020204" pitchFamily="34" charset="0"/>
              <a:buChar char="•"/>
              <a:tabLst>
                <a:tab pos="457200" algn="l"/>
                <a:tab pos="810260" algn="l"/>
              </a:tabLs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Анализ результатов и влияния входных параметров (SHAP)</a:t>
            </a:r>
          </a:p>
        </p:txBody>
      </p:sp>
    </p:spTree>
    <p:extLst>
      <p:ext uri="{BB962C8B-B14F-4D97-AF65-F5344CB8AC3E}">
        <p14:creationId xmlns:p14="http://schemas.microsoft.com/office/powerpoint/2010/main" val="1569570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2A423-6AE0-0D02-B09D-4087B0216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037010E-CB58-D613-388E-C63C1D617F52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4967B55-53E8-D587-3C40-ADA217D639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E6956D2C-D27F-BAEC-E5FA-102AF1A6B7C0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A753FC73-4E86-1D4C-FCC8-6C2CCD7D5E20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z="160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4</a:t>
            </a:fld>
            <a:endParaRPr lang="ru-RU" sz="1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70B64-3455-5842-38BB-C05B817F29EE}"/>
              </a:ext>
            </a:extLst>
          </p:cNvPr>
          <p:cNvSpPr txBox="1"/>
          <p:nvPr/>
        </p:nvSpPr>
        <p:spPr>
          <a:xfrm>
            <a:off x="2582690" y="476464"/>
            <a:ext cx="7026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Общая схема проведённого исследования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8459691-9792-52E8-724F-429682E57A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263" y="2280533"/>
            <a:ext cx="9878258" cy="212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852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FC47B-B271-5018-2B2E-11CEF508D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0BCEAFA-C664-B2E6-252A-89A26F2D531E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B3DC9807-D93C-399E-3F7B-E87B457E55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22E52EFB-5FB6-B66A-83E6-D050A0D43EE6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F06E5055-D5F0-E6ED-D843-74100CB2D58D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z="160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5</a:t>
            </a:fld>
            <a:endParaRPr lang="ru-RU" sz="1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B4C315-1AF7-0C66-D0DB-8857A1020E13}"/>
              </a:ext>
            </a:extLst>
          </p:cNvPr>
          <p:cNvSpPr txBox="1"/>
          <p:nvPr/>
        </p:nvSpPr>
        <p:spPr>
          <a:xfrm>
            <a:off x="2657779" y="439992"/>
            <a:ext cx="63814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0815" algn="ctr"/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Формирование набора данных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DB2EB4-F176-10E6-800E-BB81B2470DC0}"/>
              </a:ext>
            </a:extLst>
          </p:cNvPr>
          <p:cNvSpPr txBox="1"/>
          <p:nvPr/>
        </p:nvSpPr>
        <p:spPr>
          <a:xfrm>
            <a:off x="6292382" y="1917800"/>
            <a:ext cx="4880101" cy="3510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  <a:tab pos="810260" algn="l"/>
              </a:tabLs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Параметры выборки: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810260" algn="l"/>
              </a:tabLst>
            </a:pPr>
            <a:endParaRPr lang="ru-RU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810260" algn="l"/>
              </a:tabLs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– </a:t>
            </a:r>
            <a:r>
              <a:rPr lang="ru-R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полудиагональ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отпечатка индентора (геометрия вдавливания)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810260" algn="l"/>
              </a:tabLs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 – длина радиальной трещины от вершины отпечатка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810260" algn="l"/>
              </a:tabLs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 – пористость материала (зависит от концентрации МУНТ)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810260" algn="l"/>
              </a:tabLst>
            </a:pPr>
            <a:r>
              <a:rPr lang="ru-R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K₁c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целевая </a:t>
            </a:r>
            <a:r>
              <a:rPr lang="ru-R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трещиностойкость</a:t>
            </a: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EB15EA7-801E-313C-F47F-6CF9191A22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17" y="1917800"/>
            <a:ext cx="4363326" cy="360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78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D4B2B-E68B-1BAB-DB5A-B87CF63CB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9E8A829-B561-FA9D-6FBA-38C4DC27765F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E255CC3-751A-8AC3-FA30-D47ED054EB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CCA7C9CC-A228-40B9-3D68-E551A7770E9B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D5199285-BB34-93F6-256D-86EC27DF8F64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z="160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6</a:t>
            </a:fld>
            <a:endParaRPr lang="ru-RU" sz="1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3B7145-92C2-65FF-222D-11BF96CDCFA7}"/>
              </a:ext>
            </a:extLst>
          </p:cNvPr>
          <p:cNvSpPr txBox="1"/>
          <p:nvPr/>
        </p:nvSpPr>
        <p:spPr>
          <a:xfrm>
            <a:off x="982719" y="297241"/>
            <a:ext cx="8785782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</a:pP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Построение н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ейронной сети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833ED0-FC26-7BD1-0BF4-B84A9B57917E}"/>
              </a:ext>
            </a:extLst>
          </p:cNvPr>
          <p:cNvSpPr txBox="1"/>
          <p:nvPr/>
        </p:nvSpPr>
        <p:spPr>
          <a:xfrm>
            <a:off x="1635291" y="1241976"/>
            <a:ext cx="8921415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7675" algn="just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Многослойный перцептрон (MLP) — это тип искусственной нейронной сети, состоящий из нескольких слоёв нейронов, соединённых между собой. Он используется для решения задач регрессии, способен моделировать сложные нелинейные зависимости в данных.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09B0606-48CE-C604-ED75-2AE9216884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1757" y="2685976"/>
            <a:ext cx="6168484" cy="29300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81305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618B5-3961-2BAA-2C86-6756E06AE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F697550-CB73-9419-AE68-302F08EA3A16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F08F1897-7C3A-4931-5929-CDFAC3DBCD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9F303CB4-EEED-8E95-9D15-41D480291549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CD9771AE-DF50-9BBE-5FCB-93BF6C16E7BB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z="160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7</a:t>
            </a:fld>
            <a:endParaRPr lang="ru-RU" sz="1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E58B72-F288-294D-093D-AFB667675610}"/>
              </a:ext>
            </a:extLst>
          </p:cNvPr>
          <p:cNvSpPr txBox="1"/>
          <p:nvPr/>
        </p:nvSpPr>
        <p:spPr>
          <a:xfrm>
            <a:off x="1471927" y="352894"/>
            <a:ext cx="84692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64210" indent="-224790" algn="ctr">
              <a:spcBef>
                <a:spcPts val="5"/>
              </a:spcBef>
              <a:tabLst>
                <a:tab pos="933450" algn="l"/>
              </a:tabLs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Выбор архитектуры нейронной сети</a:t>
            </a:r>
            <a:endParaRPr lang="ru-RU" sz="2400" b="1" i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68900C-EC9E-FEE3-A1A6-CB5B829736F8}"/>
              </a:ext>
            </a:extLst>
          </p:cNvPr>
          <p:cNvSpPr txBox="1"/>
          <p:nvPr/>
        </p:nvSpPr>
        <p:spPr>
          <a:xfrm>
            <a:off x="1941614" y="968810"/>
            <a:ext cx="8469211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447675" algn="just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K-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fold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кросс-валидация — это метод оценки качества модели в машинном обучении, который позволяет получить более надёжную оценку её производительности по сравнению с простым разделением данных на обучающую и тестовую выборки.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0065047-9965-A5D3-7F6B-5E1AE7FF0A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1097" y="2673379"/>
            <a:ext cx="5410870" cy="37516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78872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FE005-AA41-0AED-6824-93B2ED69B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397EA49-E679-DD5F-3CF8-C9A7E3A25A06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FBEE23FE-F9B9-B946-75B8-6722A3A59A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17BBD72-FC4C-389E-3EF5-F4F880D50577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DE360759-BD08-B44E-6515-A08431891F68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z="160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8</a:t>
            </a:fld>
            <a:endParaRPr lang="ru-RU" sz="1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71E451-40BD-59B7-34FE-2E02D764DA28}"/>
              </a:ext>
            </a:extLst>
          </p:cNvPr>
          <p:cNvSpPr txBox="1"/>
          <p:nvPr/>
        </p:nvSpPr>
        <p:spPr>
          <a:xfrm>
            <a:off x="2074207" y="352894"/>
            <a:ext cx="72646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64210" indent="-224790" algn="ctr">
              <a:spcBef>
                <a:spcPts val="640"/>
              </a:spcBef>
              <a:tabLst>
                <a:tab pos="1341755" algn="l"/>
              </a:tabLst>
            </a:pPr>
            <a:r>
              <a:rPr lang="ru-RU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Выбор архитектуры нейронной сети</a:t>
            </a:r>
            <a:endParaRPr lang="ru-RU" sz="2400" b="1" i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6482FE89-F574-9F9A-CA23-82D50D78E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818981"/>
              </p:ext>
            </p:extLst>
          </p:nvPr>
        </p:nvGraphicFramePr>
        <p:xfrm>
          <a:off x="455823" y="2253074"/>
          <a:ext cx="5250710" cy="30047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12537">
                  <a:extLst>
                    <a:ext uri="{9D8B030D-6E8A-4147-A177-3AD203B41FA5}">
                      <a16:colId xmlns:a16="http://schemas.microsoft.com/office/drawing/2014/main" val="3716362756"/>
                    </a:ext>
                  </a:extLst>
                </a:gridCol>
                <a:gridCol w="1312537">
                  <a:extLst>
                    <a:ext uri="{9D8B030D-6E8A-4147-A177-3AD203B41FA5}">
                      <a16:colId xmlns:a16="http://schemas.microsoft.com/office/drawing/2014/main" val="3886768660"/>
                    </a:ext>
                  </a:extLst>
                </a:gridCol>
                <a:gridCol w="1312537">
                  <a:extLst>
                    <a:ext uri="{9D8B030D-6E8A-4147-A177-3AD203B41FA5}">
                      <a16:colId xmlns:a16="http://schemas.microsoft.com/office/drawing/2014/main" val="579523994"/>
                    </a:ext>
                  </a:extLst>
                </a:gridCol>
                <a:gridCol w="1313099">
                  <a:extLst>
                    <a:ext uri="{9D8B030D-6E8A-4147-A177-3AD203B41FA5}">
                      <a16:colId xmlns:a16="http://schemas.microsoft.com/office/drawing/2014/main" val="3908688710"/>
                    </a:ext>
                  </a:extLst>
                </a:gridCol>
              </a:tblGrid>
              <a:tr h="89459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Стратегия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21590"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 слоев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 нейронов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Функция активации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032586"/>
                  </a:ext>
                </a:extLst>
              </a:tr>
              <a:tr h="4220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tanh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533774"/>
                  </a:ext>
                </a:extLst>
              </a:tr>
              <a:tr h="4220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relu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9694269"/>
                  </a:ext>
                </a:extLst>
              </a:tr>
              <a:tr h="4220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tanh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891862"/>
                  </a:ext>
                </a:extLst>
              </a:tr>
              <a:tr h="4220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relu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3899871"/>
                  </a:ext>
                </a:extLst>
              </a:tr>
              <a:tr h="4220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relu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98659543"/>
                  </a:ext>
                </a:extLst>
              </a:tr>
            </a:tbl>
          </a:graphicData>
        </a:graphic>
      </p:graphicFrame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4C4A12B5-BF5F-17C7-F8F5-2E02E819CD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437318"/>
              </p:ext>
            </p:extLst>
          </p:nvPr>
        </p:nvGraphicFramePr>
        <p:xfrm>
          <a:off x="6341215" y="2248723"/>
          <a:ext cx="5250711" cy="30047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50030">
                  <a:extLst>
                    <a:ext uri="{9D8B030D-6E8A-4147-A177-3AD203B41FA5}">
                      <a16:colId xmlns:a16="http://schemas.microsoft.com/office/drawing/2014/main" val="3974280585"/>
                    </a:ext>
                  </a:extLst>
                </a:gridCol>
                <a:gridCol w="1095530">
                  <a:extLst>
                    <a:ext uri="{9D8B030D-6E8A-4147-A177-3AD203B41FA5}">
                      <a16:colId xmlns:a16="http://schemas.microsoft.com/office/drawing/2014/main" val="480867578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166720750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1099747397"/>
                    </a:ext>
                  </a:extLst>
                </a:gridCol>
                <a:gridCol w="904876">
                  <a:extLst>
                    <a:ext uri="{9D8B030D-6E8A-4147-A177-3AD203B41FA5}">
                      <a16:colId xmlns:a16="http://schemas.microsoft.com/office/drawing/2014/main" val="3831524261"/>
                    </a:ext>
                  </a:extLst>
                </a:gridCol>
              </a:tblGrid>
              <a:tr h="89459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Стратегия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 слоев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 нейронов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Функция активации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Среднее 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MSE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0115171"/>
                  </a:ext>
                </a:extLst>
              </a:tr>
              <a:tr h="4220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relu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0.00247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44152602"/>
                  </a:ext>
                </a:extLst>
              </a:tr>
              <a:tr h="4220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relu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.002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61734405"/>
                  </a:ext>
                </a:extLst>
              </a:tr>
              <a:tr h="4220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relu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308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2174166"/>
                  </a:ext>
                </a:extLst>
              </a:tr>
              <a:tr h="4220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tanh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474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2209777"/>
                  </a:ext>
                </a:extLst>
              </a:tr>
              <a:tr h="4220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tanh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562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4881579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D602800-FE46-E272-EB0C-577A1EF0D6AF}"/>
              </a:ext>
            </a:extLst>
          </p:cNvPr>
          <p:cNvSpPr txBox="1"/>
          <p:nvPr/>
        </p:nvSpPr>
        <p:spPr>
          <a:xfrm>
            <a:off x="7277100" y="162953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Результаты K-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Fold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кросс-валидации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DAA837-83F9-2C2C-C139-8F7FFE1FB811}"/>
              </a:ext>
            </a:extLst>
          </p:cNvPr>
          <p:cNvSpPr txBox="1"/>
          <p:nvPr/>
        </p:nvSpPr>
        <p:spPr>
          <a:xfrm>
            <a:off x="1123950" y="1629530"/>
            <a:ext cx="6686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Стратегии архитектур нейронных сетей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4655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BD84DAF-E152-4CBC-8AFF-9A834338369A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Номер слайда 4">
            <a:extLst>
              <a:ext uri="{FF2B5EF4-FFF2-40B4-BE49-F238E27FC236}">
                <a16:creationId xmlns:a16="http://schemas.microsoft.com/office/drawing/2014/main" id="{6FDB2B52-9554-4B99-9A61-32CCCB85EA36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z="160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9</a:t>
            </a:fld>
            <a:endParaRPr lang="ru-RU" sz="1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A9AADA-CB57-3EE5-B624-90CD0BFDBD75}"/>
              </a:ext>
            </a:extLst>
          </p:cNvPr>
          <p:cNvSpPr txBox="1"/>
          <p:nvPr/>
        </p:nvSpPr>
        <p:spPr>
          <a:xfrm>
            <a:off x="2437817" y="358018"/>
            <a:ext cx="73163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</a:pPr>
            <a:r>
              <a:rPr lang="ru-RU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Ансамбль нейронных сетей</a:t>
            </a:r>
            <a:endParaRPr lang="ru-RU" sz="2400" b="1" kern="0" dirty="0"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8E7DAE-5508-D70F-9FFE-7D0CCA3FB3E4}"/>
              </a:ext>
            </a:extLst>
          </p:cNvPr>
          <p:cNvSpPr txBox="1"/>
          <p:nvPr/>
        </p:nvSpPr>
        <p:spPr>
          <a:xfrm>
            <a:off x="1337977" y="979079"/>
            <a:ext cx="9516042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Бутстрэп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-агрегация (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Bagging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Bootstrap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Aggregating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— это метод ансамблевого обучения в машинном обучении, направленный на улучшение стабильности и точности моделей. Из исходного набора данных многократно случайным образом выбираются объекты с возвращением. Это означает, что некоторые объекты могут попасть в выборку несколько раз, а некоторые — ни разу.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0736D7E-9EA1-BE27-B008-56810BC59DD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54" t="27300" r="9149"/>
          <a:stretch>
            <a:fillRect/>
          </a:stretch>
        </p:blipFill>
        <p:spPr bwMode="auto">
          <a:xfrm>
            <a:off x="2900360" y="3099147"/>
            <a:ext cx="6391275" cy="303528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88621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AD47E-80FA-E252-7BE9-9A09FF258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4C2DCE25-5BC9-DF2B-5A13-14A3FE4B2C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AEB67AD-EEA0-BB8D-B295-F99C8F4BCE18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Номер слайда 4">
            <a:extLst>
              <a:ext uri="{FF2B5EF4-FFF2-40B4-BE49-F238E27FC236}">
                <a16:creationId xmlns:a16="http://schemas.microsoft.com/office/drawing/2014/main" id="{0944E534-E465-D126-0004-4342956BF746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z="160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10</a:t>
            </a:fld>
            <a:endParaRPr lang="ru-RU" sz="1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9BAC56-06AD-61C9-1A63-812683528990}"/>
              </a:ext>
            </a:extLst>
          </p:cNvPr>
          <p:cNvSpPr txBox="1"/>
          <p:nvPr/>
        </p:nvSpPr>
        <p:spPr>
          <a:xfrm>
            <a:off x="2437817" y="358018"/>
            <a:ext cx="73163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</a:pPr>
            <a:r>
              <a:rPr lang="ru-RU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Результаты обучения ансамбля</a:t>
            </a:r>
            <a:endParaRPr lang="ru-RU" sz="2400" b="1" kern="0" dirty="0"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35A4EC-2EE2-D356-5E13-F1F69FB5F5B8}"/>
              </a:ext>
            </a:extLst>
          </p:cNvPr>
          <p:cNvSpPr txBox="1"/>
          <p:nvPr/>
        </p:nvSpPr>
        <p:spPr>
          <a:xfrm>
            <a:off x="1168778" y="3912200"/>
            <a:ext cx="9854438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447675" algn="just">
              <a:lnSpc>
                <a:spcPct val="15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повышения точности прогнозов было проведено усреднение отобранных моделей с помощью метода 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бэггинга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что позволило улучшить точность предсказаний на основе экспериментальных данных. Средняя MSE ансамбля нейронных сетей составила 0.000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0.000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47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0.001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09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для концентраций МУНТ 0.0масс.%, 0.1масс.% и 0.5масс.% соответственно. В среднем это дает ошибку 0.00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065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что на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ниже наименьшей ошибки среди нейросетевых моделей.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679BBF07-F542-4C14-7F2A-DA0EDF8898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395832"/>
              </p:ext>
            </p:extLst>
          </p:nvPr>
        </p:nvGraphicFramePr>
        <p:xfrm>
          <a:off x="2437816" y="1215648"/>
          <a:ext cx="7316363" cy="26287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63116">
                  <a:extLst>
                    <a:ext uri="{9D8B030D-6E8A-4147-A177-3AD203B41FA5}">
                      <a16:colId xmlns:a16="http://schemas.microsoft.com/office/drawing/2014/main" val="3343934312"/>
                    </a:ext>
                  </a:extLst>
                </a:gridCol>
                <a:gridCol w="1463116">
                  <a:extLst>
                    <a:ext uri="{9D8B030D-6E8A-4147-A177-3AD203B41FA5}">
                      <a16:colId xmlns:a16="http://schemas.microsoft.com/office/drawing/2014/main" val="750100864"/>
                    </a:ext>
                  </a:extLst>
                </a:gridCol>
                <a:gridCol w="1463116">
                  <a:extLst>
                    <a:ext uri="{9D8B030D-6E8A-4147-A177-3AD203B41FA5}">
                      <a16:colId xmlns:a16="http://schemas.microsoft.com/office/drawing/2014/main" val="3847322993"/>
                    </a:ext>
                  </a:extLst>
                </a:gridCol>
                <a:gridCol w="1463116">
                  <a:extLst>
                    <a:ext uri="{9D8B030D-6E8A-4147-A177-3AD203B41FA5}">
                      <a16:colId xmlns:a16="http://schemas.microsoft.com/office/drawing/2014/main" val="4278126510"/>
                    </a:ext>
                  </a:extLst>
                </a:gridCol>
                <a:gridCol w="1463899">
                  <a:extLst>
                    <a:ext uri="{9D8B030D-6E8A-4147-A177-3AD203B41FA5}">
                      <a16:colId xmlns:a16="http://schemas.microsoft.com/office/drawing/2014/main" val="872682314"/>
                    </a:ext>
                  </a:extLst>
                </a:gridCol>
              </a:tblGrid>
              <a:tr h="43812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Модель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0.0масс.%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0.1масс.%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0.5масс.%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MSE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168401"/>
                  </a:ext>
                </a:extLst>
              </a:tr>
              <a:tr h="43812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0.00105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0.00133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.00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117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0.001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01600160"/>
                  </a:ext>
                </a:extLst>
              </a:tr>
              <a:tr h="43812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081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0.002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0.001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51974590"/>
                  </a:ext>
                </a:extLst>
              </a:tr>
              <a:tr h="43812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066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0.001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189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0.001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82011197"/>
                  </a:ext>
                </a:extLst>
              </a:tr>
              <a:tr h="43812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0.001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0.001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139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0.001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17383663"/>
                  </a:ext>
                </a:extLst>
              </a:tr>
              <a:tr h="43812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0.0011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0.001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0.002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0.001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11335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0958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985FF-72B1-B7EF-4005-0A74E6C55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34FD36C5-12E6-C7D1-6988-945BD3DAC3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F6A716E-0562-8B5D-1C22-84D1B81405B3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Номер слайда 4">
            <a:extLst>
              <a:ext uri="{FF2B5EF4-FFF2-40B4-BE49-F238E27FC236}">
                <a16:creationId xmlns:a16="http://schemas.microsoft.com/office/drawing/2014/main" id="{7BD7DC88-61B0-A16B-EBCE-A4823A4ED064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z="160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11</a:t>
            </a:fld>
            <a:endParaRPr lang="ru-RU" sz="1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A124DF-F603-A5EB-91F3-1A9FD4EA8757}"/>
              </a:ext>
            </a:extLst>
          </p:cNvPr>
          <p:cNvSpPr txBox="1"/>
          <p:nvPr/>
        </p:nvSpPr>
        <p:spPr>
          <a:xfrm>
            <a:off x="2437817" y="358018"/>
            <a:ext cx="73163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</a:pPr>
            <a:r>
              <a:rPr lang="ru-RU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Прогнозирование </a:t>
            </a:r>
            <a:r>
              <a:rPr lang="ru-RU" sz="24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трещиностойкости</a:t>
            </a:r>
            <a:endParaRPr lang="ru-RU" sz="2400" b="1" kern="0" dirty="0"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3D781F-A08B-A30C-8F12-286490B6408E}"/>
              </a:ext>
            </a:extLst>
          </p:cNvPr>
          <p:cNvSpPr txBox="1"/>
          <p:nvPr/>
        </p:nvSpPr>
        <p:spPr>
          <a:xfrm>
            <a:off x="1533239" y="1135211"/>
            <a:ext cx="9125517" cy="4300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447675" algn="just">
              <a:lnSpc>
                <a:spcPct val="150000"/>
              </a:lnSpc>
              <a:spcAft>
                <a:spcPts val="800"/>
              </a:spcAft>
              <a:tabLst>
                <a:tab pos="5826125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Чтобы построить непрерывную зависимость 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трещиностойкости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от содержания МУНТ, была сформирована сетка значений концентраций, варьирующихся от 0 до 0,5 масс.% с шагом 0,01. Для каждого значения концентрации МУНТ необходимо было определить K_1C (a, c), охватывая всю сетку значений параметров a и c. Сетка была создана с 100 значениями по каждому из параметров, что в сумме составило 10 000 точек для каждой концентрации.</a:t>
            </a:r>
          </a:p>
          <a:p>
            <a:pPr lvl="0" indent="447675" algn="just">
              <a:lnSpc>
                <a:spcPct val="150000"/>
              </a:lnSpc>
              <a:spcAft>
                <a:spcPts val="800"/>
              </a:spcAft>
              <a:tabLst>
                <a:tab pos="5826125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 применением разработанного ансамбля нейронных сетей осуществлено прогнозирование поверхностей K_1C(a, c) в диапазоне концентраций МУНТ от 0 до 0.5масс.% с шагом 0,01%. Для каждой конкретной концентрации было вычислено среднее значение K_1C по сетке параметров a и c.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060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4EBD0-9993-B134-9994-13D8D32FC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6A3DDDF4-9DA7-A597-9E86-63383BCECE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9D64F31-B6DB-1902-ECD7-D82AFA2D3B41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Номер слайда 4">
            <a:extLst>
              <a:ext uri="{FF2B5EF4-FFF2-40B4-BE49-F238E27FC236}">
                <a16:creationId xmlns:a16="http://schemas.microsoft.com/office/drawing/2014/main" id="{D8A29213-B11E-2EDA-DCA6-00F2AFB26356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z="160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12</a:t>
            </a:fld>
            <a:endParaRPr lang="ru-RU" sz="1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E66809-0ADE-79C3-D4A1-482B86EB137C}"/>
              </a:ext>
            </a:extLst>
          </p:cNvPr>
          <p:cNvSpPr txBox="1"/>
          <p:nvPr/>
        </p:nvSpPr>
        <p:spPr>
          <a:xfrm>
            <a:off x="2437817" y="358018"/>
            <a:ext cx="7316362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</a:pPr>
            <a:r>
              <a:rPr lang="ru-RU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Анализ результатов прогнозирования </a:t>
            </a:r>
            <a:r>
              <a:rPr lang="ru-RU" sz="24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трещиностойкости</a:t>
            </a:r>
            <a:endParaRPr lang="ru-RU" sz="24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1200"/>
              </a:spcBef>
            </a:pPr>
            <a:endParaRPr lang="ru-RU" sz="2400" b="1" kern="0" dirty="0"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3A1C412-DC6B-C132-7CE3-D34A7806F7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5178" y="1334964"/>
            <a:ext cx="8761640" cy="45696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75061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F52F3-359C-976B-701C-E0945E2BF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1D95B992-3AE3-FE2A-6248-77192697E9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A66E559-690D-67F6-9E85-2736032A8252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Номер слайда 4">
            <a:extLst>
              <a:ext uri="{FF2B5EF4-FFF2-40B4-BE49-F238E27FC236}">
                <a16:creationId xmlns:a16="http://schemas.microsoft.com/office/drawing/2014/main" id="{601F491A-F853-6AC6-885B-31A520C5F903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z="160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13</a:t>
            </a:fld>
            <a:endParaRPr lang="ru-RU" sz="1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CF9127-E2BB-C471-3D93-4985E548E0C5}"/>
              </a:ext>
            </a:extLst>
          </p:cNvPr>
          <p:cNvSpPr txBox="1"/>
          <p:nvPr/>
        </p:nvSpPr>
        <p:spPr>
          <a:xfrm>
            <a:off x="2437816" y="358018"/>
            <a:ext cx="7391983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определения оптимальной концентрации МУНТ</a:t>
            </a:r>
          </a:p>
          <a:p>
            <a:pPr algn="ctr">
              <a:spcBef>
                <a:spcPts val="1200"/>
              </a:spcBef>
            </a:pPr>
            <a:endParaRPr lang="ru-RU" sz="2400" b="1" kern="0" dirty="0"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494C2C0-5D6E-FBD3-FCAC-D8BE753423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155" y="1315507"/>
            <a:ext cx="8389303" cy="4608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5237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B7E6B-885E-DDE1-1E71-F89905BBC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42A99CF3-4390-4CED-7232-37475D7ED2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7DE9350-BC1B-9D6E-1BA8-746BC501BE05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Номер слайда 4">
            <a:extLst>
              <a:ext uri="{FF2B5EF4-FFF2-40B4-BE49-F238E27FC236}">
                <a16:creationId xmlns:a16="http://schemas.microsoft.com/office/drawing/2014/main" id="{CAFC2165-6296-4965-637D-EA0934B52937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z="160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14</a:t>
            </a:fld>
            <a:endParaRPr lang="ru-RU" sz="1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658413-6A97-1BC7-3DCA-502C3FC4DFC4}"/>
              </a:ext>
            </a:extLst>
          </p:cNvPr>
          <p:cNvSpPr txBox="1"/>
          <p:nvPr/>
        </p:nvSpPr>
        <p:spPr>
          <a:xfrm>
            <a:off x="2437819" y="352894"/>
            <a:ext cx="73163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</a:pPr>
            <a:r>
              <a:rPr lang="ru-RU" sz="2400" b="1" kern="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Метод для анализа влияния признаков</a:t>
            </a:r>
            <a:endParaRPr lang="ru-RU" sz="2400" b="1" kern="0" dirty="0"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9AD34C-992B-5C73-2EDC-6C644CC4553A}"/>
              </a:ext>
            </a:extLst>
          </p:cNvPr>
          <p:cNvSpPr txBox="1"/>
          <p:nvPr/>
        </p:nvSpPr>
        <p:spPr>
          <a:xfrm>
            <a:off x="1385884" y="1128190"/>
            <a:ext cx="9420225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7675" algn="just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SHapley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Additive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exPlanations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— метод интерпретации прогнозов моделей машинного обучения, основанный на концепции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Shapley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значений, разработанной Ллойдом Шепли (1953) в рамках теории кооперативных игр. В игре участвуют N игроков, которые совместно создают некоторую ценность. Требуется справедливо распределить общую ценность между игроками.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AF9E018-FFA9-D3EE-E25B-921AA485D9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358" y="3453090"/>
            <a:ext cx="6391275" cy="22767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73688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2E78D-C10C-2F18-40A4-8FC9B5D26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4A95A1F4-613B-164E-136E-B7406B9C40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957B790-482E-7A21-F41A-63551DB38076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Номер слайда 4">
            <a:extLst>
              <a:ext uri="{FF2B5EF4-FFF2-40B4-BE49-F238E27FC236}">
                <a16:creationId xmlns:a16="http://schemas.microsoft.com/office/drawing/2014/main" id="{25DD71CF-1799-2CF2-FCED-2CD7CAA1FDA2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z="160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15</a:t>
            </a:fld>
            <a:endParaRPr lang="ru-RU" sz="1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99AF30-963F-B4EE-632B-528BF2D15B80}"/>
              </a:ext>
            </a:extLst>
          </p:cNvPr>
          <p:cNvSpPr txBox="1"/>
          <p:nvPr/>
        </p:nvSpPr>
        <p:spPr>
          <a:xfrm>
            <a:off x="2437817" y="358018"/>
            <a:ext cx="73163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SHAP-</a:t>
            </a:r>
            <a:r>
              <a:rPr lang="ru-RU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анализ</a:t>
            </a:r>
            <a:endParaRPr lang="ru-RU" sz="2400" b="1" kern="0" dirty="0"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281E92F-22EE-5EBA-C001-2B6F7AD5B60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656"/>
          <a:stretch>
            <a:fillRect/>
          </a:stretch>
        </p:blipFill>
        <p:spPr bwMode="auto">
          <a:xfrm>
            <a:off x="2437817" y="1280453"/>
            <a:ext cx="7566184" cy="328664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9D69D1-19D3-488C-05D5-A59AB945A9B8}"/>
              </a:ext>
            </a:extLst>
          </p:cNvPr>
          <p:cNvSpPr txBox="1"/>
          <p:nvPr/>
        </p:nvSpPr>
        <p:spPr>
          <a:xfrm>
            <a:off x="1701286" y="4825420"/>
            <a:ext cx="9039246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7675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Относительная важность признаков для </a:t>
            </a:r>
            <a:r>
              <a:rPr lang="ru-RU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K₁c</a:t>
            </a: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полудиагональ</a:t>
            </a: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59.6% (доминирует)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(длина трещины) - 24.7%, </a:t>
            </a: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(пористость) - 15.7%</a:t>
            </a:r>
          </a:p>
        </p:txBody>
      </p:sp>
    </p:spTree>
    <p:extLst>
      <p:ext uri="{BB962C8B-B14F-4D97-AF65-F5344CB8AC3E}">
        <p14:creationId xmlns:p14="http://schemas.microsoft.com/office/powerpoint/2010/main" val="3842825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E929E-65B3-9E31-CE54-F44CA7EBA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A6AA690-A5DA-EBF1-926D-832B630AFC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B74CF65-949D-15BC-1E90-2BCE2CECF102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Номер слайда 4">
            <a:extLst>
              <a:ext uri="{FF2B5EF4-FFF2-40B4-BE49-F238E27FC236}">
                <a16:creationId xmlns:a16="http://schemas.microsoft.com/office/drawing/2014/main" id="{4E9A47C3-CEDB-4A56-4303-EA280B06DD80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z="160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16</a:t>
            </a:fld>
            <a:endParaRPr lang="ru-RU" sz="1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0AF3EA-5755-0336-631C-5776FE7E2FAF}"/>
              </a:ext>
            </a:extLst>
          </p:cNvPr>
          <p:cNvSpPr txBox="1"/>
          <p:nvPr/>
        </p:nvSpPr>
        <p:spPr>
          <a:xfrm>
            <a:off x="2437817" y="358018"/>
            <a:ext cx="73163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</a:pPr>
            <a:r>
              <a:rPr lang="ru-RU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sz="2400" b="1" kern="0" dirty="0"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89669C-3EA2-B874-2FBC-058F225C86B0}"/>
              </a:ext>
            </a:extLst>
          </p:cNvPr>
          <p:cNvSpPr txBox="1"/>
          <p:nvPr/>
        </p:nvSpPr>
        <p:spPr>
          <a:xfrm>
            <a:off x="1429830" y="1308932"/>
            <a:ext cx="9701841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рамках выполнения преддипломной практики был разработан и теоретически обоснован метод прогнозирования 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трещиностойкости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композиционного материала на основе гидроксиапатита, модифицированного 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многостенными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углеродными нанотрубками (МУНТ). В основу данного метода положен ансамбль нейронных сетей, дополненный SHAP-анализом, что позволяет обеспечить высокую точность и надежность прогнозирования.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120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711E2-529F-5B6A-3C41-B00914885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67B9269B-1571-67BA-0156-29F4C60BB1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42C7EB4-E996-85AE-9D23-C7609FA78498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Номер слайда 4">
            <a:extLst>
              <a:ext uri="{FF2B5EF4-FFF2-40B4-BE49-F238E27FC236}">
                <a16:creationId xmlns:a16="http://schemas.microsoft.com/office/drawing/2014/main" id="{E5221F58-D45E-8C44-6701-628F69652657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z="160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17</a:t>
            </a:fld>
            <a:endParaRPr lang="ru-RU" sz="1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9122F9-23CD-E5BF-B6F1-F33FB6D0E98D}"/>
              </a:ext>
            </a:extLst>
          </p:cNvPr>
          <p:cNvSpPr txBox="1"/>
          <p:nvPr/>
        </p:nvSpPr>
        <p:spPr>
          <a:xfrm>
            <a:off x="3217339" y="2523944"/>
            <a:ext cx="5757322" cy="90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sz="4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33366157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1051</TotalTime>
  <Words>879</Words>
  <Application>Microsoft Office PowerPoint</Application>
  <PresentationFormat>Широкоэкранный</PresentationFormat>
  <Paragraphs>180</Paragraphs>
  <Slides>17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7" baseType="lpstr">
      <vt:lpstr>Arial</vt:lpstr>
      <vt:lpstr>Calibri</vt:lpstr>
      <vt:lpstr>Calibri Light</vt:lpstr>
      <vt:lpstr>Cambria</vt:lpstr>
      <vt:lpstr>Nekst Bold</vt:lpstr>
      <vt:lpstr>Symbol</vt:lpstr>
      <vt:lpstr>Times New Roman</vt:lpstr>
      <vt:lpstr>Verdana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Департамент образования: итоги 2021</dc:title>
  <dc:creator>User</dc:creator>
  <cp:lastModifiedBy>golubev andrew</cp:lastModifiedBy>
  <cp:revision>64</cp:revision>
  <dcterms:created xsi:type="dcterms:W3CDTF">2022-06-29T03:22:44Z</dcterms:created>
  <dcterms:modified xsi:type="dcterms:W3CDTF">2026-06-16T13:26:53Z</dcterms:modified>
</cp:coreProperties>
</file>